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Images</c:v>
                </c:pt>
              </c:strCache>
            </c:strRef>
          </c:tx>
          <c:spPr>
            <a:solidFill>
              <a:srgbClr val="0B1D36"/>
            </a:solidFill>
          </c:spPr>
          <c:cat>
            <c:strRef>
              <c:f>Sheet1!$A$2:$A$3</c:f>
              <c:strCache>
                <c:ptCount val="2"/>
                <c:pt idx="0">
                  <c:v>aerial_thermal</c:v>
                </c:pt>
                <c:pt idx="1">
                  <c:v>camera_trap_rgb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</c:v>
                </c:pt>
                <c:pt idx="1">
                  <c:v>11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gunshot</c:v>
                </c:pt>
              </c:strCache>
            </c:strRef>
          </c:tx>
          <c:spPr>
            <a:solidFill>
              <a:srgbClr val="3D7A5F"/>
            </a:solidFill>
          </c:spPr>
          <c:cat>
            <c:strRef>
              <c:f>Sheet1!$A$2:$A$3</c:f>
              <c:strCache>
                <c:ptCount val="2"/>
                <c:pt idx="0">
                  <c:v>belize</c:v>
                </c:pt>
                <c:pt idx="1">
                  <c:v>vietnam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background</c:v>
                </c:pt>
              </c:strCache>
            </c:strRef>
          </c:tx>
          <c:spPr>
            <a:solidFill>
              <a:srgbClr val="142F52"/>
            </a:solidFill>
          </c:spPr>
          <c:cat>
            <c:strRef>
              <c:f>Sheet1!$A$2:$A$3</c:f>
              <c:strCache>
                <c:ptCount val="2"/>
                <c:pt idx="0">
                  <c:v>belize</c:v>
                </c:pt>
                <c:pt idx="1">
                  <c:v>vietnam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</c:v>
                </c:pt>
                <c:pt idx="1">
                  <c:v>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Pairs</c:v>
                </c:pt>
              </c:strCache>
            </c:strRef>
          </c:tx>
          <c:spPr>
            <a:solidFill>
              <a:srgbClr val="3D7A5F"/>
            </a:solidFill>
          </c:spPr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6</c:v>
                </c:pt>
                <c:pt idx="2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9E7A"/>
                </a:solidFill>
                <a:latin typeface="Calibri"/>
              </a:rPr>
              <a:t>Symbiosis Institute of Technology  ·  Department of AIML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GuardianEye: Late Fusion of Image and
Audio Poaching Indicators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Calibri"/>
              </a:rPr>
              <a:t>Big Data Analytics (BDA)  ·  Course code 0701260704  ·  Academic Year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9E7A"/>
                </a:solidFill>
                <a:latin typeface="Calibri"/>
              </a:rPr>
              <a:t>Guide: Dr. Archana Choudary, Assistant Professor, AIML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7315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D7A5F"/>
                </a:solidFill>
                <a:latin typeface="Calibri"/>
              </a:rPr>
              <a:t>Group members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Akhil Chivakula — 23070126009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Dipti Kothari — 23070126040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Khurinji Malar — 23070126059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Sukhada Dhingra — 24070126505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9E7A"/>
                </a:solidFill>
                <a:latin typeface="Calibri"/>
              </a:rPr>
              <a:t>Proof-of-concept. Indicators, not confirmed poaching.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3D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Problem and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0B1D36"/>
                </a:solidFill>
                <a:latin typeface="Calibri"/>
              </a:rPr>
              <a:t>•  Wildlife patrol evidence arrives as camera-trap RGB, aerial thermal frames, and short audio clips.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0B1D36"/>
                </a:solidFill>
                <a:latin typeface="Calibri"/>
              </a:rPr>
              <a:t>•  No labelled poacher class in the collections named by configuration.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0B1D36"/>
                </a:solidFill>
                <a:latin typeface="Calibri"/>
              </a:rPr>
              <a:t>•  No public time-aligned field incidents pairing image with audio of the same moment.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0B1D36"/>
                </a:solidFill>
                <a:latin typeface="Calibri"/>
              </a:rPr>
              <a:t>•  GuardianEye detects indicators (human / vehicle / gunshot-like sound), not confirmed poaching.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0B1D36"/>
                </a:solidFill>
                <a:latin typeface="Calibri"/>
              </a:rPr>
              <a:t>•  One detection is not proof of poaching; late fusion informs a human review workflow.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0B1D36"/>
                </a:solidFill>
                <a:latin typeface="Calibri"/>
              </a:rPr>
              <a:t>•  Video is not a third modality: frames are sampled into the image branch.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GuardianEye | BDA 0701260704 | SIT AIML | AY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3D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Objectives (Completed Work)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Implement a two-branch indicator pipeline: YOLOv8 image domains + log-mel audio CNN.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Keep image metrics separate for aerial_thermal and camera_trap_rgb.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Stratify audio by site (Belize ↔ Vietnam) with in-domain controls.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Retain empty images and background audio; address class imbalance (oversampling / weighted loss).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Define late-fusion rules and evaluate fusion pairs under a labelled synthetic proxy protocol.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Serve the pipeline (FastAPI + Gradio dashboard) with SQLite audit logging.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Aggregate prepared manifests and the audit log with a local PySpark Big Data Analytics job.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GuardianEye | BDA 0701260704 | SIT AIML | AY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3D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35661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3566160" cy="50292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9844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Image branch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D36"/>
                </a:solidFill>
                <a:latin typeface="Calibri"/>
              </a:rPr>
              <a:t>•  Still / sampled video frames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D36"/>
                </a:solidFill>
                <a:latin typeface="Calibri"/>
              </a:rPr>
              <a:t>•  Domains: aerial_thermal, camera_trap_rgb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D36"/>
                </a:solidFill>
                <a:latin typeface="Calibri"/>
              </a:rPr>
              <a:t>•  YOLOv8 per domain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D36"/>
                </a:solidFill>
                <a:latin typeface="Calibri"/>
              </a:rPr>
              <a:t>•  Classes: human, vehicle, animal, empty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234440"/>
            <a:ext cx="35661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234440"/>
            <a:ext cx="3566160" cy="50292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29844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Audio branch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92024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D36"/>
                </a:solidFill>
                <a:latin typeface="Calibri"/>
              </a:rPr>
              <a:t>•  WAV windows or spectrogram image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D36"/>
                </a:solidFill>
                <a:latin typeface="Calibri"/>
              </a:rPr>
              <a:t>•  Fixed windows → log-mel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D36"/>
                </a:solidFill>
                <a:latin typeface="Calibri"/>
              </a:rPr>
              <a:t>•  Small CNN classifier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D36"/>
                </a:solidFill>
                <a:latin typeface="Calibri"/>
              </a:rPr>
              <a:t>•  Classes: gunshot, background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234440"/>
            <a:ext cx="35661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234440"/>
            <a:ext cx="3566160" cy="50292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29844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Decision &amp; serving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192024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0B1D36"/>
                </a:solidFill>
                <a:latin typeface="Calibri"/>
              </a:rPr>
              <a:t>•  Late-fusion rules (HIGH / MEDIUM / LOW)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D36"/>
                </a:solidFill>
                <a:latin typeface="Calibri"/>
              </a:rPr>
              <a:t>•  FastAPI API + Gradio dashboard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D36"/>
                </a:solidFill>
                <a:latin typeface="Calibri"/>
              </a:rPr>
              <a:t>•  SQLite event / audit log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0B1D36"/>
                </a:solidFill>
                <a:latin typeface="Calibri"/>
              </a:rPr>
              <a:t>•  Alerts and non-alerts both recorded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6235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HIGH requires human/vehicle and gunshot-like score within the time window. Single-modality uploads cannot reach HIGH.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GuardianEye | BDA 0701260704 | SIT AIML | AY 2026–2027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3D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Data Pipeline and BDA Framing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B1D36"/>
                </a:solidFill>
                <a:latin typeface="Calibri"/>
              </a:rPr>
              <a:t>•  Prepared manifests under data/processed/ (JSONL); configuration in configs/*.yaml; seed 27.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1D36"/>
                </a:solidFill>
                <a:latin typeface="Calibri"/>
              </a:rPr>
              <a:t>•  Dataset download URLs in configs/data.yaml remain TODO — not invented.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1D36"/>
                </a:solidFill>
                <a:latin typeface="Calibri"/>
              </a:rPr>
              <a:t>•  Empty images retained: 12 of 22; background audio retained: 20 of 29.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1D36"/>
                </a:solidFill>
                <a:latin typeface="Calibri"/>
              </a:rPr>
              <a:t>•  Class imbalance (max/min): aerial_thermal 6.0, camera_trap_rgb 6.0; audio Belize 2.5, Vietnam 2.0.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1D36"/>
                </a:solidFill>
                <a:latin typeface="Calibri"/>
              </a:rPr>
              <a:t>•  Handling: rare visual classes oversampled; audio uses class-weighted loss.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1D36"/>
                </a:solidFill>
                <a:latin typeface="Calibri"/>
              </a:rPr>
              <a:t>•  BDA artefact aggregates indicator metadata counts — not detector mAP / F1 scores.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160520"/>
          <a:ext cx="110642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181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Corpus</a:t>
                      </a:r>
                    </a:p>
                  </a:txBody>
                  <a:tcPr anchor="ctr">
                    <a:solidFill>
                      <a:srgbClr val="0B1D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Records</a:t>
                      </a:r>
                    </a:p>
                  </a:txBody>
                  <a:tcPr anchor="ctr">
                    <a:solidFill>
                      <a:srgbClr val="0B1D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Key retention</a:t>
                      </a:r>
                    </a:p>
                  </a:txBody>
                  <a:tcPr anchor="ctr">
                    <a:solidFill>
                      <a:srgbClr val="0B1D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Imbalance note</a:t>
                      </a:r>
                    </a:p>
                  </a:txBody>
                  <a:tcPr anchor="ctr">
                    <a:solidFill>
                      <a:srgbClr val="0B1D36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D36"/>
                          </a:solidFill>
                          <a:latin typeface="Calibri"/>
                        </a:rPr>
                        <a:t>Images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D36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D36"/>
                          </a:solidFill>
                          <a:latin typeface="Calibri"/>
                        </a:rPr>
                        <a:t>12 empty kept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D36"/>
                          </a:solidFill>
                          <a:latin typeface="Calibri"/>
                        </a:rPr>
                        <a:t>ratio 6.0 per domain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D36"/>
                          </a:solidFill>
                          <a:latin typeface="Calibri"/>
                        </a:rPr>
                        <a:t>Audio windows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D36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D36"/>
                          </a:solidFill>
                          <a:latin typeface="Calibri"/>
                        </a:rPr>
                        <a:t>20 background kept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1D36"/>
                          </a:solidFill>
                          <a:latin typeface="Calibri"/>
                        </a:rPr>
                        <a:t>Belize 2.5 / Vietnam 2.0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GuardianEye | BDA 0701260704 | SIT AIML | AY 2026–2027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3D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Audio Site Stratification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Calibri"/>
              </a:rPr>
              <a:t>Belize ↔ Vietnam cross-site transfers and in-domain controls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Experiment</a:t>
                      </a:r>
                    </a:p>
                  </a:txBody>
                  <a:tcPr anchor="ctr">
                    <a:solidFill>
                      <a:srgbClr val="0B1D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 anchor="ctr">
                    <a:solidFill>
                      <a:srgbClr val="0B1D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</a:t>
                      </a:r>
                    </a:p>
                  </a:txBody>
                  <a:tcPr anchor="ctr">
                    <a:solidFill>
                      <a:srgbClr val="0B1D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anchor="ctr">
                    <a:solidFill>
                      <a:srgbClr val="0B1D36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1D36"/>
                          </a:solidFill>
                          <a:latin typeface="Calibri"/>
                        </a:rPr>
                        <a:t>Belize → Vietnam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1D36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1D3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1D36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1D36"/>
                          </a:solidFill>
                          <a:latin typeface="Calibri"/>
                        </a:rPr>
                        <a:t>Vietnam → Belize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1D36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1D3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1D36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1D36"/>
                          </a:solidFill>
                          <a:latin typeface="Calibri"/>
                        </a:rPr>
                        <a:t>In-domain Belize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1D3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1D3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1D3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1D36"/>
                          </a:solidFill>
                          <a:latin typeface="Calibri"/>
                        </a:rPr>
                        <a:t>In-domain Vietnam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1D3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1D3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B1D3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70916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0B1D36"/>
                </a:solidFill>
                <a:latin typeface="Calibri"/>
              </a:rPr>
              <a:t>•  Site counts: Belize 14 windows (gunshot 4, background 10); Vietnam 15 (gunshot 5, background 10).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B1D36"/>
                </a:solidFill>
                <a:latin typeface="Calibri"/>
              </a:rPr>
              <a:t>•  Split-assignment rows across four experiments: 84 (files: 4).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B1D36"/>
                </a:solidFill>
                <a:latin typeface="Calibri"/>
              </a:rPr>
              <a:t>•  Cross-site experiments expose domain shift; they are not averaged into one headline score.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GuardianEye | BDA 0701260704 | SIT AIML | AY 2026–2027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3D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Synthetic Proxy Fusion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Calibri"/>
              </a:rPr>
              <a:t>Constructed pairs — not time-aligned field incidents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943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B1D36"/>
                </a:solidFill>
                <a:latin typeface="Calibri"/>
              </a:rPr>
              <a:t>•  Protocol label: synthetic_proxy (16 pairs).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1D36"/>
                </a:solidFill>
                <a:latin typeface="Calibri"/>
              </a:rPr>
              <a:t>•  By domain: aerial_thermal 8, camera_trap_rgb 8.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1D36"/>
                </a:solidFill>
                <a:latin typeface="Calibri"/>
              </a:rPr>
              <a:t>•  Expected levels: HIGH 6, MEDIUM 6, LOW 4.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1D36"/>
                </a:solidFill>
                <a:latin typeface="Calibri"/>
              </a:rPr>
              <a:t>•  Pairs are built from labelled scenarios for review of fusion rules.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75120" y="1188720"/>
          <a:ext cx="49377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468880"/>
              </a:tblGrid>
              <a:tr h="4876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anchor="ctr">
                    <a:solidFill>
                      <a:srgbClr val="0B1D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Pairs</a:t>
                      </a:r>
                    </a:p>
                  </a:txBody>
                  <a:tcPr anchor="ctr">
                    <a:solidFill>
                      <a:srgbClr val="0B1D36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animal_background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empty_gunshot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empty_impulse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human_background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human_gunshot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small_human_gunshot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vehicle_background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vehicle_gunshot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572000"/>
            <a:ext cx="5943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D7A5F"/>
                </a:solidFill>
                <a:latin typeface="Calibri"/>
              </a:rPr>
              <a:t>Honesty note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B1D36"/>
                </a:solidFill>
                <a:latin typeface="Calibri"/>
              </a:rPr>
              <a:t>Constructed pairs. Not time-aligned field incidents. Fusion evaluation under this protocol is a synthetic proxy, not field validation.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GuardianEye | BDA 0701260704 | SIT AIML | AY 2026–2027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3D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Big Data Analytics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Calibri"/>
              </a:rPr>
              <a:t>bda/guardianeye_bda_analysis.py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1155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0B1D36"/>
                </a:solidFill>
                <a:latin typeface="Calibri"/>
              </a:rPr>
              <a:t>•  Engine: PySpark 4.0.1 on master local[2] (Java: OpenJDK 21).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1D36"/>
                </a:solidFill>
                <a:latin typeface="Calibri"/>
              </a:rPr>
              <a:t>•  Inputs: image manifest, audio windows, site-stratified split CSVs, synthetic proxy pairs, SQLite audit log.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1D36"/>
                </a:solidFill>
                <a:latin typeface="Calibri"/>
              </a:rPr>
              <a:t>•  Pattern: map each record to grouping keys; reduceByKey / Spark SQL aggregations for counts and ratios.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1D36"/>
                </a:solidFill>
                <a:latin typeface="Calibri"/>
              </a:rPr>
              <a:t>•  One-hour tumbling window over the event log (timestamp → window → alert / latency aggregates).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1D36"/>
                </a:solidFill>
                <a:latin typeface="Calibri"/>
              </a:rPr>
              <a:t>•  Outputs: reports/bda/summary.json and reports/bda/aggregation.csv.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0B1D36"/>
                </a:solidFill>
                <a:latin typeface="Calibri"/>
              </a:rPr>
              <a:t>•  Scope: metadata aggregation of prepared indicator corpora — not model scoring.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572000"/>
            <a:ext cx="110642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3D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091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7A5F"/>
                </a:solidFill>
                <a:latin typeface="Calibri"/>
              </a:rPr>
              <a:t>1-hour audit window (from event log)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749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B1D36"/>
                </a:solidFill>
                <a:latin typeface="Calibri"/>
              </a:rPr>
              <a:t>2026-10-26 10:00:00 → 2026-10-26 11:00:00   ·   alerted 0   ·   not alerted 1   ·   mean latency 969.8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GuardianEye | BDA 0701260704 | SIT AIML | AY 2026–2027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3D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Empirical Results — Image and Audio 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Calibri"/>
              </a:rPr>
              <a:t>From reports/bda/summary.json only. Not detection metrics.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D36"/>
                </a:solidFill>
                <a:latin typeface="Calibri"/>
              </a:rPr>
              <a:t>Image records by domain and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08760"/>
          <a:ext cx="56692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56"/>
                <a:gridCol w="1133856"/>
                <a:gridCol w="1133856"/>
                <a:gridCol w="1133856"/>
                <a:gridCol w="1133856"/>
              </a:tblGrid>
              <a:tr h="5181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 anchor="ctr">
                    <a:solidFill>
                      <a:srgbClr val="0B1D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animal</a:t>
                      </a:r>
                    </a:p>
                  </a:txBody>
                  <a:tcPr anchor="ctr">
                    <a:solidFill>
                      <a:srgbClr val="0B1D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empty</a:t>
                      </a:r>
                    </a:p>
                  </a:txBody>
                  <a:tcPr anchor="ctr">
                    <a:solidFill>
                      <a:srgbClr val="0B1D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human</a:t>
                      </a:r>
                    </a:p>
                  </a:txBody>
                  <a:tcPr anchor="ctr">
                    <a:solidFill>
                      <a:srgbClr val="0B1D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vehicle</a:t>
                      </a:r>
                    </a:p>
                  </a:txBody>
                  <a:tcPr anchor="ctr">
                    <a:solidFill>
                      <a:srgbClr val="0B1D36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1D36"/>
                          </a:solidFill>
                          <a:latin typeface="Calibri"/>
                        </a:rPr>
                        <a:t>aerial_thermal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1D36"/>
                          </a:solidFill>
                          <a:latin typeface="Calibri"/>
                        </a:rPr>
                        <a:t>camera_trap_rgb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92240" y="1143000"/>
          <a:ext cx="512064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657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D36"/>
                </a:solidFill>
                <a:latin typeface="Calibri"/>
              </a:rPr>
              <a:t>Audio windows by site and label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4023360"/>
          <a:ext cx="56692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47244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Site</a:t>
                      </a:r>
                    </a:p>
                  </a:txBody>
                  <a:tcPr anchor="ctr">
                    <a:solidFill>
                      <a:srgbClr val="0B1D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gunshot</a:t>
                      </a:r>
                    </a:p>
                  </a:txBody>
                  <a:tcPr anchor="ctr">
                    <a:solidFill>
                      <a:srgbClr val="0B1D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background</a:t>
                      </a:r>
                    </a:p>
                  </a:txBody>
                  <a:tcPr anchor="ctr">
                    <a:solidFill>
                      <a:srgbClr val="0B1D36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belize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vietnam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1D3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492240" y="3611880"/>
          <a:ext cx="5120640" cy="2331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GuardianEye | BDA 0701260704 | SIT AIML | AY 2026–2027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3D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Empirical Results — Proxy Pairs and Audit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4A5568"/>
                </a:solidFill>
                <a:latin typeface="Calibri"/>
              </a:rPr>
              <a:t>Metadata counts only. No fabricated mAP / F1 / precision / recall.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D36"/>
                </a:solidFill>
                <a:latin typeface="Calibri"/>
              </a:rPr>
              <a:t>Synthetic proxy pairs by expected level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508760"/>
          <a:ext cx="548640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0" y="1234440"/>
            <a:ext cx="521208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34440"/>
            <a:ext cx="5212080" cy="4572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984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SQLite audit log (aggregated)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0B1D36"/>
                </a:solidFill>
                <a:latin typeface="Calibri"/>
              </a:rPr>
              <a:t>•  Event records: 1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B1D36"/>
                </a:solidFill>
                <a:latin typeface="Calibri"/>
              </a:rPr>
              <a:t>•  Alerted: 0  ·  Not alerted: 1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B1D36"/>
                </a:solidFill>
                <a:latin typeface="Calibri"/>
              </a:rPr>
              <a:t>•  Risk level: LOW=1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B1D36"/>
                </a:solidFill>
                <a:latin typeface="Calibri"/>
              </a:rPr>
              <a:t>•  Domain: camera_trap_rgb=1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B1D36"/>
                </a:solidFill>
                <a:latin typeface="Calibri"/>
              </a:rPr>
              <a:t>•  Reason: unreliable_weights=1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B1D36"/>
                </a:solidFill>
                <a:latin typeface="Calibri"/>
              </a:rPr>
              <a:t>•  Proxy pairs total: 16 (protocol=synthetic_proxy)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B1D36"/>
                </a:solidFill>
                <a:latin typeface="Calibri"/>
              </a:rPr>
              <a:t>•  Seed: 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9377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1D36"/>
                </a:solidFill>
                <a:latin typeface="Calibri"/>
              </a:rPr>
              <a:t>Checkpoint status: </a:t>
            </a:r>
            <a:r>
              <a:rPr sz="1300" b="0">
                <a:solidFill>
                  <a:srgbClr val="0B1D36"/>
                </a:solidFill>
                <a:latin typeface="Calibri"/>
              </a:rPr>
              <a:t>models/ contains no trained weights. Detection metrics are not reported. summary.json note: analytical summary of prepared indicator metadata — not model metrics.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GuardianEye | BDA 0701260704 | SIT AIML | AY 2026–2027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3D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Serving and Honesty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Service: FastAPI on port 8742; Gradio dashboard at /dashboard.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GET /health for liveness; GET /model-info reports whether each checkpoint loaded (smoke / trained / missing).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POST /events accepts visual and/or audio uploads; GET /events returns the audit trail.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Every decision is logged, including non-alerts.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Current working tree: no checkpoint under models/ — weights are unreliable / missing.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Observed audit event reason in BDA aggregation: unreliable_weights (risk LOW; not alerted).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Smoke checkpoints, if present, prove scripts run; they are not field performance.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GuardianEye | BDA 0701260704 | SIT AIML | AY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3D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GuardianEye delivers a completed late-fusion indicator pipeline for wildlife evidence review.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Image and audio branches remain domain- and site-aware; empty and background samples are retained.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Fusion pairs are labelled as a synthetic proxy protocol — not field-validated poaching detection.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PySpark BDA job aggregated the prepared corpus: 22 images, 29 audio windows, 84 split rows, 16 proxy pairs, 1 audit event(s).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No detection accuracy figures are claimed without checkpoints; models/ has none in this tree.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B1D36"/>
                </a:solidFill>
                <a:latin typeface="Calibri"/>
              </a:rPr>
              <a:t>•  One detection remains an indicator, not proof of poaching.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Calibri"/>
              </a:rPr>
              <a:t>GuardianEye | BDA 0701260704 | SIT AIML | AY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A9E7A"/>
                </a:solidFill>
                <a:latin typeface="Calibri"/>
              </a:rPr>
              <a:t>Questions and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3200400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Akhil Chivakula — 23070126009</a:t>
            </a:r>
          </a:p>
          <a:p>
            <a:pPr algn="ctr">
              <a:spcBef>
                <a:spcPts val="4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Dipti Kothari — 23070126040</a:t>
            </a:r>
          </a:p>
          <a:p>
            <a:pPr algn="ctr">
              <a:spcBef>
                <a:spcPts val="4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Khurinji Malar — 23070126059</a:t>
            </a:r>
          </a:p>
          <a:p>
            <a:pPr algn="ctr">
              <a:spcBef>
                <a:spcPts val="4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Sukhada Dhingra — 24070126505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9E7A"/>
                </a:solidFill>
                <a:latin typeface="Calibri"/>
              </a:rPr>
              <a:t>Guide: Dr. Archana Choudary  ·  BDA 0701260704  ·  SIT AIML  ·  AY 2026–2027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